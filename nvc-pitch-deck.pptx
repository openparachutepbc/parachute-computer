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109728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4A7C59"/>
                </a:solidFill>
                <a:latin typeface="Calibri"/>
              </a:defRPr>
            </a:pPr>
            <a:r>
              <a:t>THE LANDSCAPE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554480"/>
            <a:ext cx="9144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4000" b="0">
                <a:solidFill>
                  <a:srgbClr val="2C2A26"/>
                </a:solidFill>
                <a:latin typeface="Georgia"/>
              </a:defRPr>
            </a:pPr>
            <a:r>
              <a:t>Everyone is building</a:t>
            </a:r>
            <a:br/>
            <a:r>
              <a:t>personal AI computers.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320040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6B6860"/>
                </a:solidFill>
                <a:latin typeface="Calibri"/>
              </a:defRPr>
            </a:pPr>
            <a:r>
              <a:t>Over 100 million people already pay $20+/month for AI.</a:t>
            </a:r>
            <a:br/>
            <a:r>
              <a:t>OpenClaw. Claude Cowork. ZoComputer. Perplexity Computer. Manus.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4572000"/>
            <a:ext cx="2743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6400" b="0">
                <a:solidFill>
                  <a:srgbClr val="4A7C59"/>
                </a:solidFill>
                <a:latin typeface="Georgia"/>
              </a:defRPr>
            </a:pPr>
            <a:r>
              <a:t>$50B+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0" y="4800600"/>
            <a:ext cx="4572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6B6860"/>
                </a:solidFill>
                <a:latin typeface="Calibri"/>
              </a:defRPr>
            </a:pPr>
            <a:r>
              <a:t>agentic AI market by 2030 · 44% CAGR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57607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2C2A26"/>
                </a:solidFill>
                <a:latin typeface="Georgia"/>
              </a:defRPr>
            </a:pPr>
            <a:r>
              <a:t>But they're building walled gardens — and only for the 5% who are already power users.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109728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4A7C59"/>
                </a:solidFill>
                <a:latin typeface="Calibri"/>
              </a:defRPr>
            </a:pPr>
            <a:r>
              <a:t>THE OPPORTUNITY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554480"/>
            <a:ext cx="9144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4000" b="0">
                <a:solidFill>
                  <a:srgbClr val="2C2A26"/>
                </a:solidFill>
                <a:latin typeface="Georgia"/>
              </a:defRPr>
            </a:pPr>
            <a:r>
              <a:t>The other 95% just want</a:t>
            </a:r>
            <a:br/>
            <a:r>
              <a:t>something that works.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3200400"/>
            <a:ext cx="9144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6B6860"/>
                </a:solidFill>
                <a:latin typeface="Georgia"/>
              </a:defRPr>
            </a:pPr>
            <a:r>
              <a:t>The artist who wants to organize creative ideas.</a:t>
            </a:r>
            <a:br/>
            <a:r>
              <a:t>The small business owner tracking their days.</a:t>
            </a:r>
            <a:br/>
            <a:r>
              <a:t>The parent who wants a better way to remember and reflect.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521208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2C2A26"/>
                </a:solidFill>
                <a:latin typeface="Georgia"/>
              </a:defRPr>
            </a:pPr>
            <a:r>
              <a:t>They need a system that learns them —</a:t>
            </a:r>
            <a:br/>
            <a:r>
              <a:t>not one that demands they learn 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109728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4A7C59"/>
                </a:solidFill>
                <a:latin typeface="Calibri"/>
              </a:defRPr>
            </a:pPr>
            <a:r>
              <a:t>OUR ANSWER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554480"/>
            <a:ext cx="9144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4000" b="0">
                <a:solidFill>
                  <a:srgbClr val="2C2A26"/>
                </a:solidFill>
                <a:latin typeface="Georgia"/>
              </a:defRPr>
            </a:pPr>
            <a:r>
              <a:t>Parachute Computer.</a:t>
            </a:r>
            <a:br/>
            <a:r>
              <a:t>The personal AI you can trust.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320040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6B6860"/>
                </a:solidFill>
                <a:latin typeface="Calibri"/>
              </a:defRPr>
            </a:pPr>
            <a:r>
              <a:t>·   Open source (AGPL-3.0) · local-first · self-hostable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37033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6B6860"/>
                </a:solidFill>
                <a:latin typeface="Calibri"/>
              </a:defRPr>
            </a:pPr>
            <a:r>
              <a:t>·   Your data stays on your device — portable and exportable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420624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6B6860"/>
                </a:solidFill>
                <a:latin typeface="Calibri"/>
              </a:defRPr>
            </a:pPr>
            <a:r>
              <a:t>·   Knowledge graph connects your journals, conversations, and thinking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4709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6B6860"/>
                </a:solidFill>
                <a:latin typeface="Calibri"/>
              </a:defRPr>
            </a:pPr>
            <a:r>
              <a:t>·   Public Benefit Corporation — legally mandated to serve users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53035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2C2A26"/>
                </a:solidFill>
                <a:latin typeface="Georgia"/>
              </a:defRPr>
            </a:pPr>
            <a:r>
              <a:t>Software gets cloned in a day.</a:t>
            </a:r>
            <a:br/>
            <a:r>
              <a:t>Trust and context cannot.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603504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6B6860"/>
                </a:solidFill>
                <a:latin typeface="Georgia"/>
              </a:defRPr>
            </a:pPr>
            <a:r>
              <a:t>But most people don't want to self-host a server.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109728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4A7C59"/>
                </a:solidFill>
                <a:latin typeface="Calibri"/>
              </a:defRPr>
            </a:pPr>
            <a:r>
              <a:t>THE BRIDGE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554480"/>
            <a:ext cx="9144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4000" b="0">
                <a:solidFill>
                  <a:srgbClr val="2C2A26"/>
                </a:solidFill>
                <a:latin typeface="Georgia"/>
              </a:defRPr>
            </a:pPr>
            <a:r>
              <a:t>Parachute Daily.</a:t>
            </a:r>
            <a:br/>
            <a:r>
              <a:t>Just talk.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3200400"/>
            <a:ext cx="50292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6B6860"/>
                </a:solidFill>
                <a:latin typeface="Calibri"/>
              </a:defRPr>
            </a:pPr>
            <a:r>
              <a:t>A voice-first journal.</a:t>
            </a:r>
            <a:br/>
            <a:br/>
            <a:r>
              <a:t>Speak into a wearable pendant or your phone —</a:t>
            </a:r>
            <a:br/>
            <a:r>
              <a:t>on a walk, in the car, wherever thinking happens.</a:t>
            </a:r>
            <a:br/>
            <a:br/>
            <a:r>
              <a:t>AI weaves through gently:</a:t>
            </a:r>
            <a:br/>
            <a:r>
              <a:t>  ·  Daily reflections on your entries</a:t>
            </a:r>
            <a:br/>
            <a:r>
              <a:t>  ·  Pattern recognition over time</a:t>
            </a:r>
            <a:br/>
            <a:r>
              <a:t>  ·  Weekly synthesis of your thinking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59436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2C2A26"/>
                </a:solidFill>
                <a:latin typeface="Calibri"/>
              </a:defRPr>
            </a:pPr>
            <a:r>
              <a:t>No learning curve. No technical sophistication required.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0" y="3200400"/>
            <a:ext cx="4114800" cy="2743200"/>
          </a:xfrm>
          <a:prstGeom prst="roundRect">
            <a:avLst/>
          </a:prstGeom>
          <a:solidFill>
            <a:srgbClr val="F3F0EA"/>
          </a:solidFill>
          <a:ln w="12700">
            <a:solidFill>
              <a:srgbClr val="E4E0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79" y="3474720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4A7C59"/>
                </a:solidFill>
                <a:latin typeface="Calibri"/>
              </a:defRPr>
            </a:pPr>
            <a:r>
              <a:t>THE PENDANT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79" y="3931920"/>
            <a:ext cx="33832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6B6860"/>
                </a:solidFill>
                <a:latin typeface="Calibri"/>
              </a:defRPr>
            </a:pPr>
            <a:r>
              <a:t>Wearable voice capture device.</a:t>
            </a:r>
            <a:br/>
            <a:br/>
            <a:r>
              <a:t>Go for a walk. Talk.</a:t>
            </a:r>
            <a:br/>
            <a:r>
              <a:t>Your thoughts become structured</a:t>
            </a:r>
            <a:br/>
            <a:r>
              <a:t>knowledge by the time you're home.</a:t>
            </a:r>
            <a:br/>
            <a:br/>
            <a:r>
              <a:t>Working prototype on stage today.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109728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4A7C59"/>
                </a:solidFill>
                <a:latin typeface="Calibri"/>
              </a:defRPr>
            </a:pPr>
            <a:r>
              <a:t>THE INSIGHT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554480"/>
            <a:ext cx="9144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4000" b="0">
                <a:solidFill>
                  <a:srgbClr val="2C2A26"/>
                </a:solidFill>
                <a:latin typeface="Georgia"/>
              </a:defRPr>
            </a:pPr>
            <a:r>
              <a:t>Context compounds.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30175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6B6860"/>
                </a:solidFill>
                <a:latin typeface="Calibri"/>
              </a:defRPr>
            </a:pPr>
            <a:r>
              <a:t>Every day you use Parachute, your AI gets meaningfully better.</a:t>
            </a:r>
            <a:br/>
            <a:r>
              <a:t>No competitor can shortcut months of accumulated personal context.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4206240"/>
            <a:ext cx="548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9A9690"/>
                </a:solidFill>
                <a:latin typeface="Courier New"/>
              </a:defRPr>
            </a:pPr>
            <a: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420624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2C2A26"/>
                </a:solidFill>
                <a:latin typeface="Georgia"/>
              </a:defRPr>
            </a:pPr>
            <a:r>
              <a:t>Start journaling in Daily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4663440"/>
            <a:ext cx="548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9A9690"/>
                </a:solidFill>
                <a:latin typeface="Courier New"/>
              </a:defRPr>
            </a:pPr>
            <a: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466344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2C2A26"/>
                </a:solidFill>
                <a:latin typeface="Georgia"/>
              </a:defRPr>
            </a:pPr>
            <a:r>
              <a:t>Build months of personal context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5120640"/>
            <a:ext cx="548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9A9690"/>
                </a:solidFill>
                <a:latin typeface="Courier New"/>
              </a:defRPr>
            </a:pPr>
            <a:r>
              <a:t>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11680" y="512064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2C2A26"/>
                </a:solidFill>
                <a:latin typeface="Georgia"/>
              </a:defRPr>
            </a:pPr>
            <a:r>
              <a:t>Upgrade to Parachute Computer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5577840"/>
            <a:ext cx="548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9A9690"/>
                </a:solidFill>
                <a:latin typeface="Courier New"/>
              </a:defRPr>
            </a:pPr>
            <a:r>
              <a:t>04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11680" y="557784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2C2A26"/>
                </a:solidFill>
                <a:latin typeface="Georgia"/>
              </a:defRPr>
            </a:pPr>
            <a:r>
              <a:t>Brain ingests your history instantly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6035040"/>
            <a:ext cx="548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4A7C59"/>
                </a:solidFill>
                <a:latin typeface="Courier New"/>
              </a:defRPr>
            </a:pPr>
            <a:r>
              <a:t>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11680" y="603504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4A7C59"/>
                </a:solidFill>
                <a:latin typeface="Georgia"/>
              </a:defRPr>
            </a:pPr>
            <a:r>
              <a:t>System already knows you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109728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4A7C59"/>
                </a:solidFill>
                <a:latin typeface="Calibri"/>
              </a:defRPr>
            </a:pPr>
            <a:r>
              <a:t>BUSINESS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554480"/>
            <a:ext cx="9144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4000" b="0">
                <a:solidFill>
                  <a:srgbClr val="2C2A26"/>
                </a:solidFill>
                <a:latin typeface="Georgia"/>
              </a:defRPr>
            </a:pPr>
            <a:r>
              <a:t>Start free.</a:t>
            </a:r>
            <a:br/>
            <a:r>
              <a:t>Grow with every user.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320040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2400" b="0">
                <a:solidFill>
                  <a:srgbClr val="9A9690"/>
                </a:solidFill>
                <a:latin typeface="Georgia"/>
              </a:defRPr>
            </a:pPr>
            <a:r>
              <a:t>Free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0" y="324612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6B6860"/>
                </a:solidFill>
                <a:latin typeface="Calibri"/>
              </a:defRPr>
            </a:pPr>
            <a:r>
              <a:t>Offline journal + on-device transcription. Zero hosting cost.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384048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2400" b="0">
                <a:solidFill>
                  <a:srgbClr val="6B6860"/>
                </a:solidFill>
                <a:latin typeface="Georgia"/>
              </a:defRPr>
            </a:pPr>
            <a:r>
              <a:t>$2/mo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388620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6B6860"/>
                </a:solidFill>
                <a:latin typeface="Calibri"/>
              </a:defRPr>
            </a:pPr>
            <a:r>
              <a:t>Cloud sync across devices. Your notes everywhere.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4343400"/>
            <a:ext cx="9601200" cy="594360"/>
          </a:xfrm>
          <a:prstGeom prst="roundRect">
            <a:avLst/>
          </a:prstGeom>
          <a:solidFill>
            <a:srgbClr val="E8F5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448056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2400" b="0">
                <a:solidFill>
                  <a:srgbClr val="4A7C59"/>
                </a:solidFill>
                <a:latin typeface="Georgia"/>
              </a:defRPr>
            </a:pPr>
            <a:r>
              <a:t>$10/mo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26080" y="452628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6B6860"/>
                </a:solidFill>
                <a:latin typeface="Calibri"/>
              </a:defRPr>
            </a:pPr>
            <a:r>
              <a:t>Cloud transcription + AI — reflections, synthesis, pattern surfacing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51206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2400" b="0">
                <a:solidFill>
                  <a:srgbClr val="2C2A26"/>
                </a:solidFill>
                <a:latin typeface="Georgia"/>
              </a:defRPr>
            </a:pPr>
            <a:r>
              <a:t>$40/mo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26080" y="516636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6B6860"/>
                </a:solidFill>
                <a:latin typeface="Calibri"/>
              </a:defRPr>
            </a:pPr>
            <a:r>
              <a:t>Hosted Parachute Computer — full agentic platform with bundled AI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57607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9A9690"/>
                </a:solidFill>
                <a:latin typeface="Calibri"/>
              </a:defRPr>
            </a:pPr>
            <a:r>
              <a:t>Free tier has zero hosting cost — no subsidizing free users.</a:t>
            </a:r>
            <a:br/>
            <a:r>
              <a:t>AI at $10/mo uses cost-efficient models. Margins are real and improve as model costs drop.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109728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4A7C59"/>
                </a:solidFill>
                <a:latin typeface="Calibri"/>
              </a:defRPr>
            </a:pPr>
            <a:r>
              <a:t>FINANCIAL PROJECTIONS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554480"/>
            <a:ext cx="9144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4000" b="0">
                <a:solidFill>
                  <a:srgbClr val="2C2A26"/>
                </a:solidFill>
                <a:latin typeface="Georgia"/>
              </a:defRPr>
            </a:pPr>
            <a:r>
              <a:t>Profitable by year three.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371600" y="3017520"/>
          <a:ext cx="749808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1645920"/>
                <a:gridCol w="1645920"/>
                <a:gridCol w="1645920"/>
              </a:tblGrid>
              <a:tr h="365760"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9A9690"/>
                          </a:solidFill>
                          <a:latin typeface="Calibri"/>
                        </a:defRPr>
                      </a:pPr>
                    </a:p>
                  </a:txBody>
                  <a:tcPr>
                    <a:solidFill>
                      <a:srgbClr val="F3F0E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9A9690"/>
                          </a:solidFill>
                          <a:latin typeface="Calibri"/>
                        </a:defRPr>
                      </a:pPr>
                      <a:r>
                        <a:t>2026</a:t>
                      </a:r>
                    </a:p>
                  </a:txBody>
                  <a:tcPr>
                    <a:solidFill>
                      <a:srgbClr val="F3F0E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9A9690"/>
                          </a:solidFill>
                          <a:latin typeface="Calibri"/>
                        </a:defRPr>
                      </a:pPr>
                      <a:r>
                        <a:t>2027</a:t>
                      </a:r>
                    </a:p>
                  </a:txBody>
                  <a:tcPr>
                    <a:solidFill>
                      <a:srgbClr val="F3F0E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9A9690"/>
                          </a:solidFill>
                          <a:latin typeface="Calibri"/>
                        </a:defRPr>
                      </a:pPr>
                      <a:r>
                        <a:t>2028</a:t>
                      </a:r>
                    </a:p>
                  </a:txBody>
                  <a:tcPr>
                    <a:solidFill>
                      <a:srgbClr val="F3F0E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2C2A26"/>
                          </a:solidFill>
                          <a:latin typeface="Calibri"/>
                        </a:defRPr>
                      </a:pPr>
                      <a:r>
                        <a:t>Free + sync users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6B6860"/>
                          </a:solidFill>
                          <a:latin typeface="Calibri"/>
                        </a:defRPr>
                      </a:pPr>
                      <a:r>
                        <a:t>5,000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6B6860"/>
                          </a:solidFill>
                          <a:latin typeface="Calibri"/>
                        </a:defRPr>
                      </a:pPr>
                      <a:r>
                        <a:t>50,000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6B6860"/>
                          </a:solidFill>
                          <a:latin typeface="Calibri"/>
                        </a:defRPr>
                      </a:pPr>
                      <a:r>
                        <a:t>250,000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2C2A26"/>
                          </a:solidFill>
                          <a:latin typeface="Calibri"/>
                        </a:defRPr>
                      </a:pPr>
                      <a:r>
                        <a:t>Paid subscribers</a:t>
                      </a:r>
                    </a:p>
                  </a:txBody>
                  <a:tcPr>
                    <a:solidFill>
                      <a:srgbClr val="FAF8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6B6860"/>
                          </a:solidFill>
                          <a:latin typeface="Calibri"/>
                        </a:defRPr>
                      </a:pPr>
                      <a:r>
                        <a:t>500</a:t>
                      </a:r>
                    </a:p>
                  </a:txBody>
                  <a:tcPr>
                    <a:solidFill>
                      <a:srgbClr val="FAF8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6B6860"/>
                          </a:solidFill>
                          <a:latin typeface="Calibri"/>
                        </a:defRPr>
                      </a:pPr>
                      <a:r>
                        <a:t>5,000</a:t>
                      </a:r>
                    </a:p>
                  </a:txBody>
                  <a:tcPr>
                    <a:solidFill>
                      <a:srgbClr val="FAF8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6B6860"/>
                          </a:solidFill>
                          <a:latin typeface="Calibri"/>
                        </a:defRPr>
                      </a:pPr>
                      <a:r>
                        <a:t>25,000</a:t>
                      </a:r>
                    </a:p>
                  </a:txBody>
                  <a:tcPr>
                    <a:solidFill>
                      <a:srgbClr val="FAF8F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2C2A26"/>
                          </a:solidFill>
                          <a:latin typeface="Calibri"/>
                        </a:defRPr>
                      </a:pPr>
                      <a:r>
                        <a:t>Avg rev / subscriber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6B6860"/>
                          </a:solidFill>
                          <a:latin typeface="Calibri"/>
                        </a:defRPr>
                      </a:pPr>
                      <a:r>
                        <a:t>~$10/mo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6B6860"/>
                          </a:solidFill>
                          <a:latin typeface="Calibri"/>
                        </a:defRPr>
                      </a:pPr>
                      <a:r>
                        <a:t>~$12/mo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6B6860"/>
                          </a:solidFill>
                          <a:latin typeface="Calibri"/>
                        </a:defRPr>
                      </a:pPr>
                      <a:r>
                        <a:t>~$14/mo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2C2A26"/>
                          </a:solidFill>
                          <a:latin typeface="Calibri"/>
                        </a:defRPr>
                      </a:pPr>
                      <a:r>
                        <a:t>MRR (end of year)</a:t>
                      </a:r>
                    </a:p>
                  </a:txBody>
                  <a:tcPr>
                    <a:solidFill>
                      <a:srgbClr val="FAF8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6B6860"/>
                          </a:solidFill>
                          <a:latin typeface="Calibri"/>
                        </a:defRPr>
                      </a:pPr>
                      <a:r>
                        <a:t>~$5,000</a:t>
                      </a:r>
                    </a:p>
                  </a:txBody>
                  <a:tcPr>
                    <a:solidFill>
                      <a:srgbClr val="FAF8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6B6860"/>
                          </a:solidFill>
                          <a:latin typeface="Calibri"/>
                        </a:defRPr>
                      </a:pPr>
                      <a:r>
                        <a:t>~$60,000</a:t>
                      </a:r>
                    </a:p>
                  </a:txBody>
                  <a:tcPr>
                    <a:solidFill>
                      <a:srgbClr val="FAF8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6B6860"/>
                          </a:solidFill>
                          <a:latin typeface="Calibri"/>
                        </a:defRPr>
                      </a:pPr>
                      <a:r>
                        <a:t>~$350,000</a:t>
                      </a:r>
                    </a:p>
                  </a:txBody>
                  <a:tcPr>
                    <a:solidFill>
                      <a:srgbClr val="FAF8F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2C2A26"/>
                          </a:solidFill>
                          <a:latin typeface="Calibri"/>
                        </a:defRPr>
                      </a:pPr>
                      <a:r>
                        <a:t>ARR (end of year)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4A7C59"/>
                          </a:solidFill>
                          <a:latin typeface="Calibri"/>
                        </a:defRPr>
                      </a:pPr>
                      <a:r>
                        <a:t>~$60K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4A7C59"/>
                          </a:solidFill>
                          <a:latin typeface="Calibri"/>
                        </a:defRPr>
                      </a:pPr>
                      <a:r>
                        <a:t>~$720K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4A7C59"/>
                          </a:solidFill>
                          <a:latin typeface="Calibri"/>
                        </a:defRPr>
                      </a:pPr>
                      <a:r>
                        <a:t>~$4.2M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2C2A26"/>
                          </a:solidFill>
                          <a:latin typeface="Calibri"/>
                        </a:defRPr>
                      </a:pPr>
                      <a:r>
                        <a:t>Team (salaried)</a:t>
                      </a:r>
                    </a:p>
                  </a:txBody>
                  <a:tcPr>
                    <a:solidFill>
                      <a:srgbClr val="FAF8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6B6860"/>
                          </a:solidFill>
                          <a:latin typeface="Calibri"/>
                        </a:defRPr>
                      </a:pPr>
                      <a:r>
                        <a:t>3</a:t>
                      </a:r>
                    </a:p>
                  </a:txBody>
                  <a:tcPr>
                    <a:solidFill>
                      <a:srgbClr val="FAF8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6B6860"/>
                          </a:solidFill>
                          <a:latin typeface="Calibri"/>
                        </a:defRPr>
                      </a:pPr>
                      <a:r>
                        <a:t>5-6</a:t>
                      </a:r>
                    </a:p>
                  </a:txBody>
                  <a:tcPr>
                    <a:solidFill>
                      <a:srgbClr val="FAF8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6B6860"/>
                          </a:solidFill>
                          <a:latin typeface="Calibri"/>
                        </a:defRPr>
                      </a:pPr>
                      <a:r>
                        <a:t>9-10</a:t>
                      </a:r>
                    </a:p>
                  </a:txBody>
                  <a:tcPr>
                    <a:solidFill>
                      <a:srgbClr val="FAF8F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2C2A26"/>
                          </a:solidFill>
                          <a:latin typeface="Calibri"/>
                        </a:defRPr>
                      </a:pPr>
                      <a:r>
                        <a:t>Operating costs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6B6860"/>
                          </a:solidFill>
                          <a:latin typeface="Calibri"/>
                        </a:defRPr>
                      </a:pPr>
                      <a:r>
                        <a:t>~$170K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6B6860"/>
                          </a:solidFill>
                          <a:latin typeface="Calibri"/>
                        </a:defRPr>
                      </a:pPr>
                      <a:r>
                        <a:t>~$550K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6B6860"/>
                          </a:solidFill>
                          <a:latin typeface="Calibri"/>
                        </a:defRPr>
                      </a:pPr>
                      <a:r>
                        <a:t>~$900K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109728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4A7C59"/>
                </a:solidFill>
                <a:latin typeface="Calibri"/>
              </a:defRPr>
            </a:pPr>
            <a:r>
              <a:t>TEAM &amp; TRACTION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554480"/>
            <a:ext cx="9144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4000" b="0">
                <a:solidFill>
                  <a:srgbClr val="2C2A26"/>
                </a:solidFill>
                <a:latin typeface="Georgia"/>
              </a:defRPr>
            </a:pPr>
            <a:r>
              <a:t>Self-funded.</a:t>
            </a:r>
            <a:br/>
            <a:r>
              <a:t>Built from scratch.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3200400"/>
            <a:ext cx="50292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6B6860"/>
                </a:solidFill>
                <a:latin typeface="Calibri"/>
              </a:defRPr>
            </a:pPr>
            <a:r>
              <a:t>What exists today:</a:t>
            </a:r>
            <a:br/>
            <a:br/>
            <a:r>
              <a:t>  ·  Working server, app, and graph-native memory</a:t>
            </a:r>
            <a:br/>
            <a:r>
              <a:t>  ·  Local voice transcription (fully offline)</a:t>
            </a:r>
            <a:br/>
            <a:r>
              <a:t>  ·  Multi-agent system with trust tiers</a:t>
            </a:r>
            <a:br/>
            <a:r>
              <a:t>  ·  Telegram, Discord, Matrix connectors</a:t>
            </a:r>
            <a:br/>
            <a:r>
              <a:t>  ·  Functional pendant prototype</a:t>
            </a:r>
            <a:br/>
            <a:r>
              <a:t>  ·  Beta launching next month</a:t>
            </a:r>
            <a:br/>
            <a:r>
              <a:t>  ·  PBC incorporated in Colorado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0" y="30175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4A7C59"/>
                </a:solidFill>
                <a:latin typeface="Calibri"/>
              </a:defRPr>
            </a:pPr>
            <a:r>
              <a:t>THE TEAM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0" y="356616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2C2A26"/>
                </a:solidFill>
                <a:latin typeface="Calibri"/>
              </a:defRPr>
            </a:pPr>
            <a:r>
              <a:t>Aaron Gabriel Neyer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0" y="3822192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6B6860"/>
                </a:solidFill>
                <a:latin typeface="Calibri"/>
              </a:defRPr>
            </a:pPr>
            <a:r>
              <a:t>Founder · Product &amp; architecture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0" y="411480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2C2A26"/>
                </a:solidFill>
                <a:latin typeface="Calibri"/>
              </a:defRPr>
            </a:pPr>
            <a:r>
              <a:t>Jon Bo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0" y="4370832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6B6860"/>
                </a:solidFill>
                <a:latin typeface="Calibri"/>
              </a:defRPr>
            </a:pPr>
            <a:r>
              <a:t>Daily co-lead · Founding engineer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0" y="466344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2C2A26"/>
                </a:solidFill>
                <a:latin typeface="Calibri"/>
              </a:defRPr>
            </a:pPr>
            <a:r>
              <a:t>Lucian Hymer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0" y="4919472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6B6860"/>
                </a:solidFill>
                <a:latin typeface="Calibri"/>
              </a:defRPr>
            </a:pPr>
            <a:r>
              <a:t>Computer co-lead · Founding engineer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0" y="521208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2C2A26"/>
                </a:solidFill>
                <a:latin typeface="Calibri"/>
              </a:defRPr>
            </a:pPr>
            <a:r>
              <a:t>Marvin Melzer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32320" y="5468112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6B6860"/>
                </a:solidFill>
                <a:latin typeface="Calibri"/>
              </a:defRPr>
            </a:pPr>
            <a:r>
              <a:t>Hardware · Pendant prototype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32320" y="576072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2C2A26"/>
                </a:solidFill>
                <a:latin typeface="Calibri"/>
              </a:defRPr>
            </a:pPr>
            <a:r>
              <a:t>Neil Yarnal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32320" y="6016752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6B6860"/>
                </a:solidFill>
                <a:latin typeface="Calibri"/>
              </a:defRPr>
            </a:pPr>
            <a:r>
              <a:t>Brand &amp; design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59436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9A9690"/>
                </a:solidFill>
                <a:latin typeface="Calibri"/>
              </a:defRPr>
            </a:pPr>
            <a:r>
              <a:t>MA Ecopsychology · MS Creative Technology &amp; Design (CU ATLAS) · Founding engineer ×2 · Ex-Google · 10+ years full stack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109728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4A7C59"/>
                </a:solidFill>
                <a:latin typeface="Calibri"/>
              </a:defRPr>
            </a:pPr>
            <a:r>
              <a:t>THE ASK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554480"/>
            <a:ext cx="9144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4000" b="0">
                <a:solidFill>
                  <a:srgbClr val="2C2A26"/>
                </a:solidFill>
                <a:latin typeface="Georgia"/>
              </a:defRPr>
            </a:pPr>
            <a:r>
              <a:t>Raising $300K to hire</a:t>
            </a:r>
            <a:br/>
            <a:r>
              <a:t>the core team.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32004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9A9690"/>
                </a:solidFill>
                <a:latin typeface="Calibri"/>
              </a:defRPr>
            </a:pPr>
            <a:r>
              <a:t>Instrument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474720" y="32004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2C2A26"/>
                </a:solidFill>
                <a:latin typeface="Georgia"/>
              </a:defRPr>
            </a:pPr>
            <a:r>
              <a:t>SAFE (YC standard)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370332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9A9690"/>
                </a:solidFill>
                <a:latin typeface="Calibri"/>
              </a:defRPr>
            </a:pPr>
            <a:r>
              <a:t>Use of funds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74720" y="370332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2C2A26"/>
                </a:solidFill>
                <a:latin typeface="Georgia"/>
              </a:defRPr>
            </a:pPr>
            <a:r>
              <a:t>Core team full-time through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420624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9A9690"/>
                </a:solidFill>
                <a:latin typeface="Calibri"/>
              </a:defRPr>
            </a:pPr>
            <a:r>
              <a:t>Goal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4720" y="420624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2C2A26"/>
                </a:solidFill>
                <a:latin typeface="Georgia"/>
              </a:defRPr>
            </a:pPr>
            <a:r>
              <a:t>Production launch by June · revenue immediately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502920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defRPr sz="2800" b="0">
                <a:solidFill>
                  <a:srgbClr val="2C2A26"/>
                </a:solidFill>
                <a:latin typeface="Georgia"/>
              </a:defRPr>
            </a:pPr>
            <a:r>
              <a:t>Open source. Local-first.</a:t>
            </a:r>
            <a:br/>
            <a:r>
              <a:t>Balance and choice — from the foundation.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59436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9A9690"/>
                </a:solidFill>
                <a:latin typeface="Calibri"/>
              </a:defRPr>
            </a:pPr>
            <a:r>
              <a:t>Aaron Gabriel Neyer  ·  aaron@parachute.computer  ·  Boulder, CO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63093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9A9690"/>
                </a:solidFill>
                <a:latin typeface="Calibri"/>
              </a:defRPr>
            </a:pPr>
            <a:r>
              <a:t>parachute.computer  ·  github.com/OpenParachutePBC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